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0" r:id="rId4"/>
    <p:sldId id="261" r:id="rId5"/>
    <p:sldId id="258" r:id="rId6"/>
    <p:sldId id="262" r:id="rId7"/>
    <p:sldId id="25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0" autoAdjust="0"/>
    <p:restoredTop sz="94696" autoAdjust="0"/>
  </p:normalViewPr>
  <p:slideViewPr>
    <p:cSldViewPr snapToGrid="0" showGuides="1">
      <p:cViewPr varScale="1">
        <p:scale>
          <a:sx n="155" d="100"/>
          <a:sy n="155" d="100"/>
        </p:scale>
        <p:origin x="688" y="184"/>
      </p:cViewPr>
      <p:guideLst/>
    </p:cSldViewPr>
  </p:slideViewPr>
  <p:outlineViewPr>
    <p:cViewPr>
      <p:scale>
        <a:sx n="33" d="100"/>
        <a:sy n="33" d="100"/>
      </p:scale>
      <p:origin x="0" y="-8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9456"/>
    </p:cViewPr>
  </p:sorterViewPr>
  <p:notesViewPr>
    <p:cSldViewPr snapToGrid="0">
      <p:cViewPr varScale="1">
        <p:scale>
          <a:sx n="105" d="100"/>
          <a:sy n="105" d="100"/>
        </p:scale>
        <p:origin x="4734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2B7C0-AE5A-44CA-8C07-7833E639FAAA}" type="datetimeFigureOut">
              <a:rPr lang="de-DE" smtClean="0"/>
              <a:t>03.05.26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D5F81-E6D3-4CFB-AD5E-034076274E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5213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2D893-BCE9-471C-B833-BB7A19EF6DE4}" type="datetimeFigureOut">
              <a:rPr lang="de-DE" smtClean="0"/>
              <a:t>03.05.26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AB94-199C-4148-8B5E-86FE1088B9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19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3852862"/>
          </a:xfrm>
          <a:solidFill>
            <a:schemeClr val="tx2">
              <a:alpha val="90000"/>
            </a:schemeClr>
          </a:solidFill>
        </p:spPr>
        <p:txBody>
          <a:bodyPr lIns="432000" tIns="1008000" rIns="180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  <p:sp>
        <p:nvSpPr>
          <p:cNvPr id="21" name="Untertitel 2"/>
          <p:cNvSpPr txBox="1">
            <a:spLocks/>
          </p:cNvSpPr>
          <p:nvPr userDrawn="1"/>
        </p:nvSpPr>
        <p:spPr>
          <a:xfrm>
            <a:off x="1450975" y="2657022"/>
            <a:ext cx="9702800" cy="23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kern="1200" spc="30" baseline="0">
                <a:solidFill>
                  <a:schemeClr val="bg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2"/>
              </a:buClr>
              <a:buSzPct val="90000"/>
              <a:buFontTx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Tx/>
              <a:buNone/>
              <a:defRPr sz="1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80000"/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83200"/>
            <a:ext cx="9702799" cy="307974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</p:spTree>
    <p:extLst>
      <p:ext uri="{BB962C8B-B14F-4D97-AF65-F5344CB8AC3E}">
        <p14:creationId xmlns:p14="http://schemas.microsoft.com/office/powerpoint/2010/main" val="129170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 userDrawn="1">
          <p15:clr>
            <a:srgbClr val="FBAE40"/>
          </p15:clr>
        </p15:guide>
        <p15:guide id="2" orient="horz" pos="1661" userDrawn="1">
          <p15:clr>
            <a:srgbClr val="FBAE40"/>
          </p15:clr>
        </p15:guide>
        <p15:guide id="3" pos="642" userDrawn="1">
          <p15:clr>
            <a:srgbClr val="FBAE40"/>
          </p15:clr>
        </p15:guide>
        <p15:guide id="4" pos="70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_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3852862"/>
          </a:xfrm>
          <a:solidFill>
            <a:schemeClr val="tx2">
              <a:alpha val="90000"/>
            </a:schemeClr>
          </a:solidFill>
        </p:spPr>
        <p:txBody>
          <a:bodyPr lIns="432000" tIns="1008000" rIns="180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21" name="Untertitel 2"/>
          <p:cNvSpPr txBox="1">
            <a:spLocks/>
          </p:cNvSpPr>
          <p:nvPr userDrawn="1"/>
        </p:nvSpPr>
        <p:spPr>
          <a:xfrm>
            <a:off x="1450975" y="2657022"/>
            <a:ext cx="9702800" cy="23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kern="1200" spc="30" baseline="0">
                <a:solidFill>
                  <a:schemeClr val="bg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chemeClr val="tx2"/>
              </a:buClr>
              <a:buSzPct val="90000"/>
              <a:buFontTx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Tx/>
              <a:buNone/>
              <a:defRPr sz="1600" kern="1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SzPct val="80000"/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83200"/>
            <a:ext cx="9702799" cy="307974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38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3852862"/>
          </a:xfrm>
          <a:solidFill>
            <a:schemeClr val="bg2"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50975" y="2636838"/>
            <a:ext cx="9419083" cy="41116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73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 userDrawn="1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 userDrawn="1">
          <p15:clr>
            <a:srgbClr val="FBAE40"/>
          </p15:clr>
        </p15:guide>
        <p15:guide id="4" pos="703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ohne Bild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3852862"/>
          </a:xfrm>
          <a:solidFill>
            <a:schemeClr val="bg2"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50975" y="2636838"/>
            <a:ext cx="9419083" cy="411160"/>
          </a:xfrm>
        </p:spPr>
        <p:txBody>
          <a:bodyPr/>
          <a:lstStyle>
            <a:lvl1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 dirty="0" err="1"/>
              <a:t>Fomatvorlagen</a:t>
            </a:r>
            <a:r>
              <a:rPr lang="de-DE" dirty="0"/>
              <a:t> des Textmasters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3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2192000" cy="339248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6"/>
            <a:ext cx="10153650" cy="3852862"/>
          </a:xfrm>
          <a:solidFill>
            <a:schemeClr val="bg2">
              <a:lumMod val="90000"/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600"/>
            <a:ext cx="2520000" cy="651596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1450975" y="2636838"/>
            <a:ext cx="9039225" cy="414587"/>
          </a:xfrm>
        </p:spPr>
        <p:txBody>
          <a:bodyPr/>
          <a:lstStyle>
            <a:lvl1pPr>
              <a:defRPr sz="1800" baseline="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28508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 userDrawn="1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 userDrawn="1">
          <p15:clr>
            <a:srgbClr val="FBAE40"/>
          </p15:clr>
        </p15:guide>
        <p15:guide id="4" pos="703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blau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12192000" cy="339248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6"/>
            <a:ext cx="10153650" cy="3852862"/>
          </a:xfrm>
          <a:solidFill>
            <a:schemeClr val="bg2">
              <a:lumMod val="90000"/>
              <a:alpha val="8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MASTERFORMAT 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0975" y="5276772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1450975" y="2636838"/>
            <a:ext cx="9039225" cy="414587"/>
          </a:xfrm>
        </p:spPr>
        <p:txBody>
          <a:bodyPr/>
          <a:lstStyle>
            <a:lvl1pPr>
              <a:defRPr sz="1800" baseline="0">
                <a:solidFill>
                  <a:schemeClr val="tx2"/>
                </a:solidFill>
                <a:latin typeface="Rockwell" panose="02060603020205020403" pitchFamily="18" charset="0"/>
              </a:defRPr>
            </a:lvl1pPr>
            <a:lvl2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2pPr>
            <a:lvl3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3pPr>
            <a:lvl4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4pPr>
            <a:lvl5pPr>
              <a:defRPr sz="1800">
                <a:solidFill>
                  <a:schemeClr val="tx2"/>
                </a:solidFill>
                <a:latin typeface="Rockwell" panose="02060603020205020403" pitchFamily="18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63" y="705600"/>
            <a:ext cx="2524262" cy="65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  <p15:guide id="4" pos="703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10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5256213" cy="3852862"/>
          </a:xfrm>
          <a:solidFill>
            <a:schemeClr val="tx2">
              <a:alpha val="90000"/>
            </a:schemeClr>
          </a:solidFill>
        </p:spPr>
        <p:txBody>
          <a:bodyPr lIns="432000" tIns="432000" rIns="216000" bIns="0" anchor="t"/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1769" y="5455577"/>
            <a:ext cx="4464844" cy="310781"/>
          </a:xfrm>
        </p:spPr>
        <p:txBody>
          <a:bodyPr anchor="t" anchorCtr="0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Datum, </a:t>
            </a:r>
            <a:r>
              <a:rPr lang="de-DE" dirty="0" err="1"/>
              <a:t>Referent:in</a:t>
            </a:r>
            <a:endParaRPr lang="de-DE" dirty="0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5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 userDrawn="1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weiß Bild rechts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10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5256213" cy="3852862"/>
          </a:xfrm>
          <a:solidFill>
            <a:schemeClr val="tx2">
              <a:alpha val="90000"/>
            </a:schemeClr>
          </a:solidFill>
        </p:spPr>
        <p:txBody>
          <a:bodyPr lIns="432000" tIns="432000" rIns="216000" bIns="0" anchor="t"/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 </a:t>
            </a:r>
            <a:br>
              <a:rPr lang="de-DE" dirty="0"/>
            </a:br>
            <a:r>
              <a:rPr lang="de-DE" dirty="0"/>
              <a:t>DURCH KLICKEN </a:t>
            </a:r>
            <a:br>
              <a:rPr lang="de-DE" dirty="0"/>
            </a:br>
            <a:r>
              <a:rPr lang="de-DE" dirty="0"/>
              <a:t>BEARBEITEN            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51769" y="5455577"/>
            <a:ext cx="4464844" cy="310781"/>
          </a:xfrm>
        </p:spPr>
        <p:txBody>
          <a:bodyPr anchor="t" anchorCtr="0"/>
          <a:lstStyle>
            <a:lvl1pPr marL="0" indent="0" algn="l">
              <a:buNone/>
              <a:defRPr sz="16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Date, </a:t>
            </a:r>
            <a:r>
              <a:rPr lang="de-DE" dirty="0" err="1"/>
              <a:t>speaker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705459"/>
            <a:ext cx="2520001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22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5916612" y="0"/>
            <a:ext cx="6281001" cy="685371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695325" y="765176"/>
            <a:ext cx="5580063" cy="525621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200150" y="2170112"/>
            <a:ext cx="4895850" cy="1222376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inhalt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759575" y="2168525"/>
            <a:ext cx="4737100" cy="3852863"/>
          </a:xfrm>
        </p:spPr>
        <p:txBody>
          <a:bodyPr/>
          <a:lstStyle>
            <a:lvl3pPr marL="285750" indent="-285750">
              <a:buClr>
                <a:schemeClr val="tx2"/>
              </a:buClr>
              <a:buSzPct val="140000"/>
              <a:buFont typeface="Segoe UI" panose="020B0502040204020203" pitchFamily="34" charset="0"/>
              <a:buChar char="•"/>
              <a:defRPr/>
            </a:lvl3pPr>
          </a:lstStyle>
          <a:p>
            <a:pPr lvl="2"/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</a:t>
            </a:r>
            <a:r>
              <a:rPr lang="de-DE" dirty="0" err="1"/>
              <a:t>fugi</a:t>
            </a:r>
            <a:endParaRPr lang="de-DE" dirty="0"/>
          </a:p>
          <a:p>
            <a:pPr lvl="2"/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fug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D6D137-2D30-4DEF-A413-AA05D3598BDF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>
          <a:xfrm>
            <a:off x="1538243" y="6176964"/>
            <a:ext cx="4378370" cy="544512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de-DE" dirty="0"/>
              <a:t>Universität Hohenheim, Titel der Präsentation, </a:t>
            </a:r>
            <a:r>
              <a:rPr lang="de-DE" dirty="0" err="1"/>
              <a:t>Namel</a:t>
            </a:r>
            <a:r>
              <a:rPr lang="de-DE" dirty="0"/>
              <a:t> des Autors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276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Numm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5916612" y="0"/>
            <a:ext cx="6281001" cy="685371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695325" y="765176"/>
            <a:ext cx="5580063" cy="525621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200150" y="2170112"/>
            <a:ext cx="4895850" cy="1222376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inhalt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20D7-47AE-43B2-A354-0D8AAA454996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538243" y="6176964"/>
            <a:ext cx="4378370" cy="544512"/>
          </a:xfrm>
        </p:spPr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760800" y="2168525"/>
            <a:ext cx="4307599" cy="3852863"/>
          </a:xfrm>
        </p:spPr>
        <p:txBody>
          <a:bodyPr/>
          <a:lstStyle>
            <a:lvl3pPr marL="342900" indent="-342900">
              <a:buClr>
                <a:schemeClr val="tx2"/>
              </a:buClr>
              <a:buSzPct val="100000"/>
              <a:buFont typeface="+mj-lt"/>
              <a:buAutoNum type="arabicPeriod"/>
              <a:defRPr/>
            </a:lvl3pPr>
          </a:lstStyle>
          <a:p>
            <a:pPr lvl="2"/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</a:t>
            </a:r>
            <a:r>
              <a:rPr lang="de-DE" dirty="0" err="1"/>
              <a:t>fugi</a:t>
            </a:r>
            <a:endParaRPr lang="de-DE" dirty="0"/>
          </a:p>
          <a:p>
            <a:pPr lvl="2"/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quae</a:t>
            </a:r>
            <a:r>
              <a:rPr lang="de-DE" dirty="0"/>
              <a:t>. </a:t>
            </a:r>
          </a:p>
          <a:p>
            <a:pPr lvl="2"/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ilique</a:t>
            </a:r>
            <a:r>
              <a:rPr lang="de-DE" dirty="0"/>
              <a:t> </a:t>
            </a:r>
            <a:r>
              <a:rPr lang="de-DE" dirty="0" err="1"/>
              <a:t>pore</a:t>
            </a:r>
            <a:r>
              <a:rPr lang="de-DE" dirty="0"/>
              <a:t>, </a:t>
            </a:r>
            <a:r>
              <a:rPr lang="de-DE" dirty="0" err="1"/>
              <a:t>erae</a:t>
            </a:r>
            <a:r>
              <a:rPr lang="de-DE" dirty="0"/>
              <a:t> </a:t>
            </a:r>
            <a:r>
              <a:rPr lang="de-DE" dirty="0" err="1"/>
              <a:t>mos</a:t>
            </a:r>
            <a:r>
              <a:rPr lang="de-DE" dirty="0"/>
              <a:t> </a:t>
            </a:r>
            <a:r>
              <a:rPr lang="de-DE" dirty="0" err="1"/>
              <a:t>modignia</a:t>
            </a:r>
            <a:r>
              <a:rPr lang="de-DE" dirty="0"/>
              <a:t> </a:t>
            </a:r>
          </a:p>
          <a:p>
            <a:pPr lvl="2"/>
            <a:r>
              <a:rPr lang="de-DE" dirty="0" err="1"/>
              <a:t>debitq</a:t>
            </a:r>
            <a:r>
              <a:rPr lang="de-DE" dirty="0"/>
              <a:t> </a:t>
            </a:r>
            <a:r>
              <a:rPr lang="de-DE" dirty="0" err="1"/>
              <a:t>uam</a:t>
            </a:r>
            <a:r>
              <a:rPr lang="de-DE" dirty="0"/>
              <a:t>, </a:t>
            </a:r>
            <a:r>
              <a:rPr lang="de-DE" dirty="0" err="1"/>
              <a:t>conesed</a:t>
            </a:r>
            <a:r>
              <a:rPr lang="de-DE" dirty="0"/>
              <a:t> </a:t>
            </a:r>
            <a:r>
              <a:rPr lang="de-DE" dirty="0" err="1"/>
              <a:t>ips</a:t>
            </a:r>
            <a:endParaRPr lang="de-DE" dirty="0"/>
          </a:p>
          <a:p>
            <a:pPr lvl="2"/>
            <a:r>
              <a:rPr lang="de-DE" dirty="0" err="1"/>
              <a:t>andae</a:t>
            </a:r>
            <a:r>
              <a:rPr lang="de-DE" dirty="0"/>
              <a:t> </a:t>
            </a:r>
            <a:r>
              <a:rPr lang="de-DE" dirty="0" err="1"/>
              <a:t>Daeped</a:t>
            </a:r>
            <a:r>
              <a:rPr lang="de-DE" dirty="0"/>
              <a:t> unt. </a:t>
            </a:r>
            <a:r>
              <a:rPr lang="de-DE" dirty="0" err="1"/>
              <a:t>Hil</a:t>
            </a:r>
            <a:r>
              <a:rPr lang="de-DE" dirty="0"/>
              <a:t> </a:t>
            </a:r>
            <a:r>
              <a:rPr lang="de-DE" dirty="0" err="1"/>
              <a:t>magnia</a:t>
            </a:r>
            <a:endParaRPr lang="de-DE" dirty="0"/>
          </a:p>
          <a:p>
            <a:pPr lvl="2"/>
            <a:r>
              <a:rPr lang="de-DE" dirty="0" err="1"/>
              <a:t>Ugiat</a:t>
            </a:r>
            <a:r>
              <a:rPr lang="de-DE" dirty="0"/>
              <a:t> </a:t>
            </a:r>
            <a:r>
              <a:rPr lang="de-DE" dirty="0" err="1"/>
              <a:t>volorae</a:t>
            </a:r>
            <a:r>
              <a:rPr lang="de-DE" dirty="0"/>
              <a:t> </a:t>
            </a:r>
            <a:r>
              <a:rPr lang="de-DE" dirty="0" err="1"/>
              <a:t>ides</a:t>
            </a:r>
            <a:r>
              <a:rPr lang="de-DE" dirty="0"/>
              <a:t> </a:t>
            </a:r>
            <a:r>
              <a:rPr lang="de-DE" dirty="0" err="1"/>
              <a:t>aute</a:t>
            </a:r>
            <a:r>
              <a:rPr lang="de-DE" dirty="0"/>
              <a:t> </a:t>
            </a:r>
            <a:r>
              <a:rPr lang="de-DE" dirty="0" err="1"/>
              <a:t>adit</a:t>
            </a:r>
            <a:r>
              <a:rPr lang="de-DE" dirty="0"/>
              <a:t>, </a:t>
            </a:r>
            <a:r>
              <a:rPr lang="de-DE" dirty="0" err="1"/>
              <a:t>odit</a:t>
            </a:r>
            <a:r>
              <a:rPr lang="de-DE" dirty="0"/>
              <a:t> fug</a:t>
            </a:r>
          </a:p>
        </p:txBody>
      </p:sp>
    </p:spTree>
    <p:extLst>
      <p:ext uri="{BB962C8B-B14F-4D97-AF65-F5344CB8AC3E}">
        <p14:creationId xmlns:p14="http://schemas.microsoft.com/office/powerpoint/2010/main" val="179780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97D939E-9268-4C24-8A60-08168659C377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695324" y="2168525"/>
            <a:ext cx="10801350" cy="38528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2373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L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695325" y="765176"/>
            <a:ext cx="5221288" cy="5256212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200151" y="1808162"/>
            <a:ext cx="4716462" cy="4213225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FE19FDB2-B614-458B-9AF9-7A6AD5A3B978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/>
          </p:nvPr>
        </p:nvSpPr>
        <p:spPr>
          <a:xfrm>
            <a:off x="6275388" y="1808163"/>
            <a:ext cx="5221287" cy="4213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3214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L breit, 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63522B27-5760-4BB5-A46B-23A4CD2E478B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275388" y="1808165"/>
            <a:ext cx="5221287" cy="4213224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695325" y="1808164"/>
            <a:ext cx="5221288" cy="4213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131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ED08256D-1F73-488A-9A69-628AACAAF7EB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695325" y="1808165"/>
            <a:ext cx="5221288" cy="42132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6275388" y="1808165"/>
            <a:ext cx="5221287" cy="42132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9" name="Gerader Verbinder 8"/>
          <p:cNvCxnSpPr>
            <a:stCxn id="10" idx="2"/>
          </p:cNvCxnSpPr>
          <p:nvPr userDrawn="1"/>
        </p:nvCxnSpPr>
        <p:spPr>
          <a:xfrm>
            <a:off x="6096000" y="1808164"/>
            <a:ext cx="0" cy="436880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925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gleich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916612" y="1808163"/>
            <a:ext cx="5580061" cy="4213225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 userDrawn="1"/>
        </p:nvSpPr>
        <p:spPr>
          <a:xfrm>
            <a:off x="695325" y="1808163"/>
            <a:ext cx="5580063" cy="4213225"/>
          </a:xfrm>
          <a:prstGeom prst="rect">
            <a:avLst/>
          </a:prstGeom>
          <a:solidFill>
            <a:schemeClr val="bg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5C22801-F263-487F-BBDA-8C0BCE2A69C3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>
          <a:xfrm>
            <a:off x="1010625" y="2168525"/>
            <a:ext cx="4869475" cy="38528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6570051" y="2168525"/>
            <a:ext cx="4926624" cy="38528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0664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precherwechsel 3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64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5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2_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60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514" cy="6858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93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1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5514" cy="685800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115" y="2375188"/>
            <a:ext cx="6528185" cy="168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2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013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" y="5385226"/>
            <a:ext cx="2847101" cy="73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01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recherwechsel 5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0133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3" y="5381897"/>
            <a:ext cx="2847600" cy="7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09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 mit Farb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2" y="0"/>
            <a:ext cx="6275387" cy="6858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328158-652D-43A3-85C8-926E954D054D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4378370" cy="544512"/>
          </a:xfrm>
        </p:spPr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5" y="765175"/>
            <a:ext cx="5580063" cy="5275265"/>
          </a:xfrm>
          <a:solidFill>
            <a:schemeClr val="bg2">
              <a:lumMod val="90000"/>
              <a:alpha val="80000"/>
            </a:schemeClr>
          </a:solidFill>
        </p:spPr>
        <p:txBody>
          <a:bodyPr lIns="504000" tIns="1008000"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200151" y="3392488"/>
            <a:ext cx="4679950" cy="2628900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470277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 mit Farb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2" y="0"/>
            <a:ext cx="6275387" cy="6858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" y="0"/>
            <a:ext cx="6275387" cy="6858000"/>
          </a:xfrm>
          <a:solidFill>
            <a:schemeClr val="bg2">
              <a:lumMod val="90000"/>
              <a:alpha val="80000"/>
            </a:schemeClr>
          </a:solidFill>
        </p:spPr>
        <p:txBody>
          <a:bodyPr lIns="684000" tIns="720000" rIns="46800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5326" y="2168525"/>
            <a:ext cx="5184775" cy="3852863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6398971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/>
          </p:nvPr>
        </p:nvSpPr>
        <p:spPr>
          <a:xfrm>
            <a:off x="5916613" y="0"/>
            <a:ext cx="6275386" cy="6858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4810090-ACBB-42B6-ACCE-05985A6F6AFD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4378370" cy="544512"/>
          </a:xfrm>
        </p:spPr>
        <p:txBody>
          <a:bodyPr/>
          <a:lstStyle/>
          <a:p>
            <a:r>
              <a:rPr lang="de-DE" dirty="0"/>
              <a:t>Universität Hohenheim, Titel der Präsentation, </a:t>
            </a:r>
            <a:r>
              <a:rPr lang="de-DE" dirty="0" err="1"/>
              <a:t>Namel</a:t>
            </a:r>
            <a:r>
              <a:rPr lang="de-DE" dirty="0"/>
              <a:t> des Autors</a:t>
            </a:r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C7480975-3BCA-9AF4-9B25-06FB9723E2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2168525"/>
            <a:ext cx="5184775" cy="3852863"/>
          </a:xfrm>
        </p:spPr>
        <p:txBody>
          <a:bodyPr/>
          <a:lstStyle/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itel 9">
            <a:extLst>
              <a:ext uri="{FF2B5EF4-FFF2-40B4-BE49-F238E27FC236}">
                <a16:creationId xmlns:a16="http://schemas.microsoft.com/office/drawing/2014/main" id="{E94438B3-C2AC-BF11-6248-27FA961A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5174"/>
            <a:ext cx="5221287" cy="1042989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20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200151" y="1808162"/>
            <a:ext cx="4716462" cy="4213225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287984B-6AC0-48CC-B5BD-1084C12308B3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275388" y="765175"/>
            <a:ext cx="5221287" cy="525621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4514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,Text links +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4"/>
            <a:ext cx="5221287" cy="1042989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fld id="{4E86B18C-9D03-4EFF-9490-F143FFE0B800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4"/>
          </p:nvPr>
        </p:nvSpPr>
        <p:spPr>
          <a:xfrm>
            <a:off x="6275388" y="765174"/>
            <a:ext cx="5221287" cy="52562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7" cy="38528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75912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L breit+2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4"/>
            <a:ext cx="10801349" cy="1042989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fld id="{847D693A-5BB2-4CF0-9CFB-24FEF22D1CB9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4"/>
          </p:nvPr>
        </p:nvSpPr>
        <p:spPr>
          <a:xfrm>
            <a:off x="6275388" y="2168525"/>
            <a:ext cx="5221287" cy="3852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695326" y="2168525"/>
            <a:ext cx="5221288" cy="38528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56443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7" y="764381"/>
            <a:ext cx="5184774" cy="1042989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B3B9D8C-82E5-4C2D-AB02-7D806D5C23C0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/>
          </p:nvPr>
        </p:nvSpPr>
        <p:spPr>
          <a:xfrm>
            <a:off x="6254750" y="765175"/>
            <a:ext cx="2433638" cy="525621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33638" cy="525621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2168525"/>
            <a:ext cx="5221288" cy="38528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6254750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14737345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/4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4381"/>
            <a:ext cx="5221287" cy="1042989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903D8AE-F1E3-4B29-A845-D57A2927040E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4737145" cy="544512"/>
          </a:xfrm>
        </p:spPr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/>
          </p:nvPr>
        </p:nvSpPr>
        <p:spPr>
          <a:xfrm>
            <a:off x="6275388" y="765175"/>
            <a:ext cx="2449512" cy="244871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13000" cy="244871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2168525"/>
            <a:ext cx="5221287" cy="38528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275388" y="3572669"/>
            <a:ext cx="2449512" cy="244871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83675" y="3571875"/>
            <a:ext cx="2413000" cy="244871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6254750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6291262" y="3302637"/>
            <a:ext cx="2433638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9120187" y="3302637"/>
            <a:ext cx="2376487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07050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/2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4381"/>
            <a:ext cx="8029574" cy="1042989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B74E84-301A-4784-BB5B-F794028F10F2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>
          <a:xfrm>
            <a:off x="1538243" y="6176964"/>
            <a:ext cx="7186657" cy="544512"/>
          </a:xfrm>
        </p:spPr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9083675" y="764381"/>
            <a:ext cx="2413000" cy="244871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95325" y="1807371"/>
            <a:ext cx="8029575" cy="42140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83675" y="3571875"/>
            <a:ext cx="2413000" cy="244871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9083675" y="6110925"/>
            <a:ext cx="2433638" cy="368300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9120187" y="3302637"/>
            <a:ext cx="2376487" cy="269238"/>
          </a:xfrm>
        </p:spPr>
        <p:txBody>
          <a:bodyPr/>
          <a:lstStyle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/>
            </a:lvl3pPr>
          </a:lstStyle>
          <a:p>
            <a:pPr lvl="2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4745915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C1BC1BC-BCBA-4FCD-AB88-C2A3C61F1332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1"/>
            <a:ext cx="10801350" cy="602138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05172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F58C89E-3262-41C3-AFE6-3B2236A790FC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765175"/>
            <a:ext cx="10801350" cy="5256214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91794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/Video mit Beschreib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95325" y="1"/>
            <a:ext cx="10801350" cy="602138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0AD1B9C-9616-48EB-ABE9-B580C2ED3E68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1" y="-1"/>
            <a:ext cx="5916612" cy="2447999"/>
          </a:xfrm>
          <a:solidFill>
            <a:schemeClr val="tx1">
              <a:lumMod val="75000"/>
              <a:alpha val="80000"/>
            </a:schemeClr>
          </a:solidFill>
        </p:spPr>
        <p:txBody>
          <a:bodyPr lIns="1224000" rIns="180000" anchor="ctr" anchorCtr="0"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90882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379537" y="765175"/>
            <a:ext cx="10117138" cy="5256213"/>
          </a:xfrm>
        </p:spPr>
        <p:txBody>
          <a:bodyPr anchor="ctr" anchorCtr="0"/>
          <a:lstStyle>
            <a:lvl1pPr>
              <a:defRPr sz="4800" b="0" cap="none" spc="100" baseline="0">
                <a:solidFill>
                  <a:schemeClr val="bg1"/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„Zitat durch klicken bearbeiten“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379538" y="5661060"/>
            <a:ext cx="9562440" cy="360327"/>
          </a:xfrm>
        </p:spPr>
        <p:txBody>
          <a:bodyPr anchor="b" anchorCtr="0"/>
          <a:lstStyle>
            <a:lvl1pPr algn="l">
              <a:defRPr sz="1600" spc="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dirty="0"/>
              <a:t>Urheber</a:t>
            </a:r>
          </a:p>
        </p:txBody>
      </p:sp>
    </p:spTree>
    <p:extLst>
      <p:ext uri="{BB962C8B-B14F-4D97-AF65-F5344CB8AC3E}">
        <p14:creationId xmlns:p14="http://schemas.microsoft.com/office/powerpoint/2010/main" val="10108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695325" y="765175"/>
            <a:ext cx="10801350" cy="5256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 userDrawn="1"/>
        </p:nvSpPr>
        <p:spPr>
          <a:xfrm>
            <a:off x="0" y="8731"/>
            <a:ext cx="10801350" cy="5256213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379538" y="2173286"/>
            <a:ext cx="7345362" cy="2443163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3994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7"/>
          <p:cNvSpPr>
            <a:spLocks noGrp="1"/>
          </p:cNvSpPr>
          <p:nvPr>
            <p:ph type="pic" sz="quarter" idx="16"/>
          </p:nvPr>
        </p:nvSpPr>
        <p:spPr>
          <a:xfrm>
            <a:off x="695325" y="765175"/>
            <a:ext cx="10781919" cy="525621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0" y="1808163"/>
            <a:ext cx="6096000" cy="3168650"/>
          </a:xfrm>
          <a:solidFill>
            <a:schemeClr val="tx2">
              <a:alpha val="90000"/>
            </a:schemeClr>
          </a:solidFill>
        </p:spPr>
        <p:txBody>
          <a:bodyPr lIns="1188000" tIns="0" anchor="ctr" anchorCtr="0"/>
          <a:lstStyle>
            <a:lvl1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mit </a:t>
            </a:r>
            <a:r>
              <a:rPr lang="de-DE" dirty="0" err="1"/>
              <a:t>bild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19752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Bild und 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7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799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räne 1"/>
          <p:cNvSpPr/>
          <p:nvPr userDrawn="1"/>
        </p:nvSpPr>
        <p:spPr>
          <a:xfrm rot="5400000">
            <a:off x="695325" y="781844"/>
            <a:ext cx="5221288" cy="5221288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1390651" y="1808163"/>
            <a:ext cx="4525961" cy="316865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885135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trenner mit Fläche und 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695325" y="1808163"/>
            <a:ext cx="10801350" cy="5049837"/>
          </a:xfrm>
          <a:prstGeom prst="rect">
            <a:avLst/>
          </a:prstGeom>
          <a:solidFill>
            <a:schemeClr val="bg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Titelmasterformat durch Klicken bearbeiten</a:t>
            </a:r>
          </a:p>
          <a:p>
            <a:pPr algn="ctr"/>
            <a:endParaRPr lang="de-DE" dirty="0"/>
          </a:p>
        </p:txBody>
      </p:sp>
      <p:sp>
        <p:nvSpPr>
          <p:cNvPr id="2" name="Träne 1"/>
          <p:cNvSpPr/>
          <p:nvPr userDrawn="1"/>
        </p:nvSpPr>
        <p:spPr>
          <a:xfrm rot="5400000">
            <a:off x="3485356" y="781844"/>
            <a:ext cx="5221288" cy="5221288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4089115" y="1808163"/>
            <a:ext cx="4206473" cy="316865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Titeltrenner</a:t>
            </a:r>
            <a:r>
              <a:rPr lang="de-DE" dirty="0"/>
              <a:t>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32332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9">
          <p15:clr>
            <a:srgbClr val="FBAE40"/>
          </p15:clr>
        </p15:guide>
        <p15:guide id="2" orient="horz" pos="166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9B18B238-1627-4F06-9E32-4DCBE5C659E0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695325" y="2168524"/>
            <a:ext cx="10801350" cy="3852863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99140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ha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5"/>
            <a:ext cx="5221288" cy="5256211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651EF1F-71BE-4323-9D63-3F33797DAFA2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6275387" y="765176"/>
            <a:ext cx="5221287" cy="525621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5278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L+Tabelle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695326" y="765175"/>
            <a:ext cx="2558237" cy="5256211"/>
          </a:xfrm>
        </p:spPr>
        <p:txBody>
          <a:bodyPr anchor="t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E7E7E28A-C61C-4C76-AE77-38CF07808D15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Tabellenplatzhalter 2"/>
          <p:cNvSpPr>
            <a:spLocks noGrp="1"/>
          </p:cNvSpPr>
          <p:nvPr>
            <p:ph type="tbl" sz="quarter" idx="10"/>
          </p:nvPr>
        </p:nvSpPr>
        <p:spPr>
          <a:xfrm>
            <a:off x="3467101" y="765176"/>
            <a:ext cx="8029574" cy="525621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45954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2808288"/>
          </a:xfrm>
          <a:solidFill>
            <a:schemeClr val="tx2">
              <a:alpha val="9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de-DE" dirty="0"/>
              <a:t>Vielen Dank für Ihre Aufmerksamkeit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450975" y="4219881"/>
            <a:ext cx="9511551" cy="396569"/>
          </a:xfrm>
        </p:spPr>
        <p:txBody>
          <a:bodyPr anchor="b" anchorCtr="0"/>
          <a:lstStyle>
            <a:lvl3pPr>
              <a:defRPr>
                <a:solidFill>
                  <a:schemeClr val="bg1"/>
                </a:solidFill>
              </a:defRPr>
            </a:lvl3pPr>
          </a:lstStyle>
          <a:p>
            <a:pPr lvl="2"/>
            <a:r>
              <a:rPr lang="de-DE" dirty="0"/>
              <a:t>Unterzeile, Datum, Referent, o.ä.</a:t>
            </a:r>
          </a:p>
        </p:txBody>
      </p:sp>
    </p:spTree>
    <p:extLst>
      <p:ext uri="{BB962C8B-B14F-4D97-AF65-F5344CB8AC3E}">
        <p14:creationId xmlns:p14="http://schemas.microsoft.com/office/powerpoint/2010/main" val="2530396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914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3392488"/>
            <a:ext cx="12192000" cy="3465512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>
          <a:xfrm>
            <a:off x="1019176" y="2168525"/>
            <a:ext cx="10153650" cy="2808288"/>
          </a:xfrm>
          <a:solidFill>
            <a:schemeClr val="tx2">
              <a:alpha val="90000"/>
            </a:schemeClr>
          </a:solidFill>
        </p:spPr>
        <p:txBody>
          <a:bodyPr lIns="432000" tIns="1008000" rIns="216000" bIns="0" anchor="t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Thank you for your attention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450975" y="4219881"/>
            <a:ext cx="9511551" cy="396569"/>
          </a:xfrm>
        </p:spPr>
        <p:txBody>
          <a:bodyPr anchor="b" anchorCtr="0"/>
          <a:lstStyle>
            <a:lvl3pPr>
              <a:defRPr>
                <a:solidFill>
                  <a:schemeClr val="bg1"/>
                </a:solidFill>
              </a:defRPr>
            </a:lvl3pPr>
          </a:lstStyle>
          <a:p>
            <a:pPr lvl="2"/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33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91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2808287"/>
          </a:xfrm>
          <a:solidFill>
            <a:schemeClr val="bg2">
              <a:alpha val="80000"/>
            </a:schemeClr>
          </a:solidFill>
        </p:spPr>
        <p:txBody>
          <a:bodyPr lIns="396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Vielen Dank für Ihre </a:t>
            </a:r>
            <a:br>
              <a:rPr lang="de-DE" dirty="0"/>
            </a:br>
            <a:r>
              <a:rPr lang="de-DE" dirty="0"/>
              <a:t>Aufmerksamkeit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70026" y="4222800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Unterzeile, Datum, Referent, o.ä.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7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 userDrawn="1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luss blau_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3392488"/>
            <a:ext cx="12192000" cy="3465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/>
          <p:cNvSpPr>
            <a:spLocks noGrp="1"/>
          </p:cNvSpPr>
          <p:nvPr>
            <p:ph type="ctrTitle" hasCustomPrompt="1"/>
          </p:nvPr>
        </p:nvSpPr>
        <p:spPr>
          <a:xfrm>
            <a:off x="1019175" y="2168526"/>
            <a:ext cx="10153650" cy="2808287"/>
          </a:xfrm>
          <a:solidFill>
            <a:schemeClr val="bg2">
              <a:alpha val="80000"/>
            </a:schemeClr>
          </a:solidFill>
        </p:spPr>
        <p:txBody>
          <a:bodyPr lIns="396000" tIns="1008000" rIns="216000" bIns="0" anchor="t"/>
          <a:lstStyle>
            <a:lvl1pPr algn="l">
              <a:defRPr sz="32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 for your attention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70026" y="4222800"/>
            <a:ext cx="9702799" cy="314402"/>
          </a:xfrm>
        </p:spPr>
        <p:txBody>
          <a:bodyPr anchor="b"/>
          <a:lstStyle>
            <a:lvl1pPr marL="0" indent="0" algn="l">
              <a:buNone/>
              <a:defRPr sz="1600" baseline="0">
                <a:solidFill>
                  <a:schemeClr val="tx2"/>
                </a:solidFill>
                <a:latin typeface="Segoe UI 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Subheading</a:t>
            </a:r>
            <a:r>
              <a:rPr lang="de-DE" dirty="0"/>
              <a:t>, </a:t>
            </a:r>
            <a:r>
              <a:rPr lang="de-DE" dirty="0" err="1"/>
              <a:t>date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, etc.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00" y="705458"/>
            <a:ext cx="2520000" cy="65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0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4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pos="64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 userDrawn="1"/>
        </p:nvSpPr>
        <p:spPr>
          <a:xfrm>
            <a:off x="10775614" y="4620538"/>
            <a:ext cx="719709" cy="3173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/>
          <a:lstStyle/>
          <a:p>
            <a:fld id="{80ED8654-BDEE-4448-94DF-1D6BFE49DF61}" type="datetime1">
              <a:rPr lang="de-DE" smtClean="0"/>
              <a:t>03.05.26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537200" y="6176964"/>
            <a:ext cx="9000000" cy="544512"/>
          </a:xfrm>
          <a:prstGeom prst="rect">
            <a:avLst/>
          </a:prstGeom>
        </p:spPr>
        <p:txBody>
          <a:bodyPr/>
          <a:lstStyle/>
          <a:p>
            <a:r>
              <a:rPr lang="de-DE"/>
              <a:t>Universität Hohenheim, Titel der Präsentation, Namel des Autors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/>
          <a:lstStyle/>
          <a:p>
            <a:fld id="{2104B226-4361-4E3F-8691-235B281AC8CE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00" y="5448314"/>
            <a:ext cx="573074" cy="573074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695325" y="765176"/>
            <a:ext cx="5184774" cy="10429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Standards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695325" y="4616450"/>
            <a:ext cx="2520100" cy="1404938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6254750" y="1808164"/>
            <a:ext cx="5241925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räne 9"/>
          <p:cNvSpPr/>
          <p:nvPr userDrawn="1"/>
        </p:nvSpPr>
        <p:spPr>
          <a:xfrm>
            <a:off x="3456531" y="4616450"/>
            <a:ext cx="1369901" cy="1369901"/>
          </a:xfrm>
          <a:prstGeom prst="teardrop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1" name="Textfeld 10"/>
          <p:cNvSpPr txBox="1"/>
          <p:nvPr userDrawn="1"/>
        </p:nvSpPr>
        <p:spPr>
          <a:xfrm>
            <a:off x="10554789" y="4042240"/>
            <a:ext cx="9405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dirty="0"/>
              <a:t>Symbole</a:t>
            </a:r>
          </a:p>
        </p:txBody>
      </p:sp>
      <p:graphicFrame>
        <p:nvGraphicFramePr>
          <p:cNvPr id="12" name="Tabelle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17083489"/>
              </p:ext>
            </p:extLst>
          </p:nvPr>
        </p:nvGraphicFramePr>
        <p:xfrm>
          <a:off x="695323" y="1810514"/>
          <a:ext cx="10800000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203430008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01894712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44579960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37392713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364051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de-DE" sz="1600" dirty="0"/>
                        <a:t>Benennung 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 err="1"/>
                        <a:t>Credits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de-DE" sz="1600" dirty="0"/>
                        <a:t>Spalte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9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2000 Degree M.Sc. Food Systems</a:t>
                      </a:r>
                      <a:endParaRPr lang="de-DE" sz="1600" dirty="0"/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120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1.6</a:t>
                      </a:r>
                    </a:p>
                  </a:txBody>
                  <a:tcPr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358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3000 </a:t>
                      </a:r>
                      <a:r>
                        <a:rPr lang="de-DE" sz="1600" dirty="0" err="1"/>
                        <a:t>Compulsory</a:t>
                      </a:r>
                      <a:r>
                        <a:rPr lang="de-DE" sz="1600" dirty="0"/>
                        <a:t>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129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1507-440 SPOC: Introduction to Food Systems</a:t>
                      </a:r>
                      <a:endParaRPr lang="de-DE" sz="1600" dirty="0"/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7.5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2.3</a:t>
                      </a:r>
                    </a:p>
                  </a:txBody>
                  <a:tcP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3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/>
                        <a:t>1507-450 </a:t>
                      </a:r>
                      <a:r>
                        <a:rPr lang="de-DE" sz="1600" dirty="0" err="1"/>
                        <a:t>AgFoodTech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8923"/>
                  </a:ext>
                </a:extLst>
              </a:tr>
            </a:tbl>
          </a:graphicData>
        </a:graphic>
      </p:graphicFrame>
      <p:sp>
        <p:nvSpPr>
          <p:cNvPr id="13" name="Textfeld 12"/>
          <p:cNvSpPr txBox="1"/>
          <p:nvPr userDrawn="1"/>
        </p:nvSpPr>
        <p:spPr>
          <a:xfrm>
            <a:off x="9082323" y="1252991"/>
            <a:ext cx="24130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dirty="0"/>
              <a:t>Look Tabelle</a:t>
            </a:r>
          </a:p>
        </p:txBody>
      </p:sp>
      <p:graphicFrame>
        <p:nvGraphicFramePr>
          <p:cNvPr id="14" name="Inhaltsplatzhalter 6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976134078"/>
              </p:ext>
            </p:extLst>
          </p:nvPr>
        </p:nvGraphicFramePr>
        <p:xfrm>
          <a:off x="5094026" y="4622331"/>
          <a:ext cx="5221285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80583">
                  <a:extLst>
                    <a:ext uri="{9D8B030D-6E8A-4147-A177-3AD203B41FA5}">
                      <a16:colId xmlns:a16="http://schemas.microsoft.com/office/drawing/2014/main" val="928685103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2216239891"/>
                    </a:ext>
                  </a:extLst>
                </a:gridCol>
                <a:gridCol w="1159328">
                  <a:extLst>
                    <a:ext uri="{9D8B030D-6E8A-4147-A177-3AD203B41FA5}">
                      <a16:colId xmlns:a16="http://schemas.microsoft.com/office/drawing/2014/main" val="1190962114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341469501"/>
                    </a:ext>
                  </a:extLst>
                </a:gridCol>
                <a:gridCol w="1128030">
                  <a:extLst>
                    <a:ext uri="{9D8B030D-6E8A-4147-A177-3AD203B41FA5}">
                      <a16:colId xmlns:a16="http://schemas.microsoft.com/office/drawing/2014/main" val="2363874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1 - 25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+mn-lt"/>
                        </a:rPr>
                        <a:t>26</a:t>
                      </a: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 - 50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51 - 75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1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76 - 100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159140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€ 30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€ 20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€ 10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2498317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€ 20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€ 10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F75"/>
                        </a:buClr>
                        <a:buSzTx/>
                        <a:buFont typeface="Wingdings"/>
                        <a:buNone/>
                        <a:defRPr/>
                      </a:pPr>
                      <a:r>
                        <a:rPr lang="de-DE" sz="1400" b="0" i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€ 30</a:t>
                      </a:r>
                      <a:endParaRPr dirty="0">
                        <a:latin typeface="+mn-lt"/>
                      </a:endParaRPr>
                    </a:p>
                  </a:txBody>
                  <a:tcPr marL="104306" marR="104306" marT="52155" marB="52155" anchor="ctr"/>
                </a:tc>
                <a:extLst>
                  <a:ext uri="{0D108BD9-81ED-4DB2-BD59-A6C34878D82A}">
                    <a16:rowId xmlns:a16="http://schemas.microsoft.com/office/drawing/2014/main" val="217553299"/>
                  </a:ext>
                </a:extLst>
              </a:tr>
            </a:tbl>
          </a:graphicData>
        </a:graphic>
      </p:graphicFrame>
      <p:cxnSp>
        <p:nvCxnSpPr>
          <p:cNvPr id="15" name="Gerade Verbindung mit Pfeil 14"/>
          <p:cNvCxnSpPr/>
          <p:nvPr userDrawn="1"/>
        </p:nvCxnSpPr>
        <p:spPr>
          <a:xfrm>
            <a:off x="10920912" y="4774981"/>
            <a:ext cx="381000" cy="0"/>
          </a:xfrm>
          <a:prstGeom prst="straightConnector1">
            <a:avLst/>
          </a:prstGeom>
          <a:ln w="28575" cap="sq" cmpd="sng" algn="ctr">
            <a:solidFill>
              <a:schemeClr val="bg1"/>
            </a:solidFill>
            <a:prstDash val="solid"/>
            <a:round/>
            <a:headEnd type="none" w="med" len="med"/>
            <a:tailEnd type="arrow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r Verbinder 18"/>
          <p:cNvCxnSpPr/>
          <p:nvPr userDrawn="1"/>
        </p:nvCxnSpPr>
        <p:spPr>
          <a:xfrm>
            <a:off x="695325" y="4176257"/>
            <a:ext cx="4131107" cy="0"/>
          </a:xfrm>
          <a:prstGeom prst="line">
            <a:avLst/>
          </a:prstGeom>
          <a:ln w="6350" cap="sq" cmpd="sng" algn="ctr">
            <a:solidFill>
              <a:schemeClr val="tx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9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5325" y="765176"/>
            <a:ext cx="10801349" cy="1042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 JDLFJS ÜBER SDKRJE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25" y="2168525"/>
            <a:ext cx="10801349" cy="3852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FOLGERUNG VIERTE EBENE 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95326" y="6176964"/>
            <a:ext cx="71546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tint val="7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96159C0-0F8C-43CA-8F5F-0CAE6CE30AB4}" type="datetime1">
              <a:rPr lang="de-DE" smtClean="0"/>
              <a:t>03.05.26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38243" y="6176964"/>
            <a:ext cx="9016546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spc="100" baseline="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de-DE" dirty="0"/>
              <a:t>Universität Hohenheim, Titel der Präsentation, </a:t>
            </a:r>
            <a:r>
              <a:rPr lang="de-DE" dirty="0" err="1"/>
              <a:t>Namel</a:t>
            </a:r>
            <a:r>
              <a:rPr lang="de-DE" dirty="0"/>
              <a:t> des Autors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664791" y="6176964"/>
            <a:ext cx="831883" cy="5445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104B226-4361-4E3F-8691-235B281AC8C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46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669" r:id="rId3"/>
    <p:sldLayoutId id="2147483706" r:id="rId4"/>
    <p:sldLayoutId id="2147483660" r:id="rId5"/>
    <p:sldLayoutId id="2147483707" r:id="rId6"/>
    <p:sldLayoutId id="2147483701" r:id="rId7"/>
    <p:sldLayoutId id="2147483708" r:id="rId8"/>
    <p:sldLayoutId id="2147483670" r:id="rId9"/>
    <p:sldLayoutId id="2147483671" r:id="rId10"/>
    <p:sldLayoutId id="2147483650" r:id="rId11"/>
    <p:sldLayoutId id="2147483674" r:id="rId12"/>
    <p:sldLayoutId id="2147483673" r:id="rId13"/>
    <p:sldLayoutId id="2147483675" r:id="rId14"/>
    <p:sldLayoutId id="2147483677" r:id="rId15"/>
    <p:sldLayoutId id="2147483664" r:id="rId16"/>
    <p:sldLayoutId id="2147483709" r:id="rId17"/>
    <p:sldLayoutId id="2147483668" r:id="rId18"/>
    <p:sldLayoutId id="2147483710" r:id="rId19"/>
    <p:sldLayoutId id="2147483661" r:id="rId20"/>
    <p:sldLayoutId id="2147483711" r:id="rId21"/>
    <p:sldLayoutId id="2147483663" r:id="rId22"/>
    <p:sldLayoutId id="2147483713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99" r:id="rId29"/>
    <p:sldLayoutId id="2147483683" r:id="rId30"/>
    <p:sldLayoutId id="2147483684" r:id="rId31"/>
    <p:sldLayoutId id="2147483703" r:id="rId32"/>
    <p:sldLayoutId id="2147483685" r:id="rId33"/>
    <p:sldLayoutId id="2147483704" r:id="rId34"/>
    <p:sldLayoutId id="2147483686" r:id="rId35"/>
    <p:sldLayoutId id="2147483689" r:id="rId36"/>
    <p:sldLayoutId id="2147483690" r:id="rId37"/>
    <p:sldLayoutId id="2147483667" r:id="rId38"/>
    <p:sldLayoutId id="2147483691" r:id="rId39"/>
    <p:sldLayoutId id="2147483696" r:id="rId40"/>
    <p:sldLayoutId id="2147483692" r:id="rId41"/>
    <p:sldLayoutId id="2147483693" r:id="rId42"/>
    <p:sldLayoutId id="2147483694" r:id="rId43"/>
    <p:sldLayoutId id="2147483666" r:id="rId44"/>
    <p:sldLayoutId id="2147483715" r:id="rId45"/>
    <p:sldLayoutId id="2147483702" r:id="rId46"/>
    <p:sldLayoutId id="2147483714" r:id="rId47"/>
    <p:sldLayoutId id="2147483655" r:id="rId4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cap="all" spc="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2200" kern="1200" spc="30" baseline="0">
          <a:solidFill>
            <a:schemeClr val="tx1">
              <a:lumMod val="75000"/>
            </a:schemeClr>
          </a:solidFill>
          <a:latin typeface="Rockwell" panose="02060603020205020403" pitchFamily="18" charset="0"/>
          <a:ea typeface="+mn-ea"/>
          <a:cs typeface="+mn-cs"/>
        </a:defRPr>
      </a:lvl1pPr>
      <a:lvl2pPr marL="288000" indent="-288000" algn="l" defTabSz="914400" rtl="0" eaLnBrk="1" latinLnBrk="0" hangingPunct="1">
        <a:lnSpc>
          <a:spcPct val="100000"/>
        </a:lnSpc>
        <a:spcBef>
          <a:spcPts val="800"/>
        </a:spcBef>
        <a:spcAft>
          <a:spcPts val="500"/>
        </a:spcAft>
        <a:buClr>
          <a:schemeClr val="tx2"/>
        </a:buClr>
        <a:buSzPct val="90000"/>
        <a:buFontTx/>
        <a:buBlip>
          <a:blip r:embed="rId50"/>
        </a:buBlip>
        <a:defRPr sz="18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Tx/>
        <a:buNone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288000" indent="-2880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Tx/>
        <a:buBlip>
          <a:blip r:embed="rId51"/>
        </a:buBlip>
        <a:defRPr sz="1800" kern="1200" baseline="0">
          <a:solidFill>
            <a:schemeClr val="tx2"/>
          </a:solidFill>
          <a:latin typeface="+mj-lt"/>
          <a:ea typeface="+mn-ea"/>
          <a:cs typeface="+mn-cs"/>
        </a:defRPr>
      </a:lvl4pPr>
      <a:lvl5pPr marL="540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80000"/>
        <a:buFontTx/>
        <a:buBlip>
          <a:blip r:embed="rId52"/>
        </a:buBlip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pos="3953" userDrawn="1">
          <p15:clr>
            <a:srgbClr val="F26B43"/>
          </p15:clr>
        </p15:guide>
        <p15:guide id="5" pos="5496" userDrawn="1">
          <p15:clr>
            <a:srgbClr val="F26B43"/>
          </p15:clr>
        </p15:guide>
        <p15:guide id="6" pos="3727" userDrawn="1">
          <p15:clr>
            <a:srgbClr val="F26B43"/>
          </p15:clr>
        </p15:guide>
        <p15:guide id="7" pos="2184" userDrawn="1">
          <p15:clr>
            <a:srgbClr val="F26B43"/>
          </p15:clr>
        </p15:guide>
        <p15:guide id="8" pos="1958" userDrawn="1">
          <p15:clr>
            <a:srgbClr val="F26B43"/>
          </p15:clr>
        </p15:guide>
        <p15:guide id="9" pos="756" userDrawn="1">
          <p15:clr>
            <a:srgbClr val="F26B43"/>
          </p15:clr>
        </p15:guide>
        <p15:guide id="10" pos="5722" userDrawn="1">
          <p15:clr>
            <a:srgbClr val="F26B43"/>
          </p15:clr>
        </p15:guide>
        <p15:guide id="11" orient="horz" pos="1139" userDrawn="1">
          <p15:clr>
            <a:srgbClr val="F26B43"/>
          </p15:clr>
        </p15:guide>
        <p15:guide id="12" orient="horz" pos="1366" userDrawn="1">
          <p15:clr>
            <a:srgbClr val="F26B43"/>
          </p15:clr>
        </p15:guide>
        <p15:guide id="13" orient="horz" pos="2024" userDrawn="1">
          <p15:clr>
            <a:srgbClr val="F26B43"/>
          </p15:clr>
        </p15:guide>
        <p15:guide id="14" orient="horz" pos="2251" userDrawn="1">
          <p15:clr>
            <a:srgbClr val="F26B43"/>
          </p15:clr>
        </p15:guide>
        <p15:guide id="15" orient="horz" pos="2908" userDrawn="1">
          <p15:clr>
            <a:srgbClr val="F26B43"/>
          </p15:clr>
        </p15:guide>
        <p15:guide id="16" orient="horz" pos="3135" userDrawn="1">
          <p15:clr>
            <a:srgbClr val="F26B43"/>
          </p15:clr>
        </p15:guide>
        <p15:guide id="17" orient="horz" pos="3793" userDrawn="1">
          <p15:clr>
            <a:srgbClr val="F26B43"/>
          </p15:clr>
        </p15:guide>
        <p15:guide id="18" orient="horz" pos="482" userDrawn="1">
          <p15:clr>
            <a:srgbClr val="F26B43"/>
          </p15:clr>
        </p15:guide>
        <p15:guide id="19" orient="horz" pos="213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RASA</a:t>
            </a:r>
          </a:p>
        </p:txBody>
      </p:sp>
    </p:spTree>
    <p:extLst>
      <p:ext uri="{BB962C8B-B14F-4D97-AF65-F5344CB8AC3E}">
        <p14:creationId xmlns:p14="http://schemas.microsoft.com/office/powerpoint/2010/main" val="135091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3BDB89C-0193-C2DE-7AC5-356758F8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Informationen / Vorgehen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ABF15D3-E3B4-8E2E-3C80-BF32553F75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Open-Source-Framework für </a:t>
            </a:r>
            <a:r>
              <a:rPr lang="de-DE" dirty="0" err="1"/>
              <a:t>Conversational</a:t>
            </a:r>
            <a:r>
              <a:rPr lang="de-DE" dirty="0"/>
              <a:t> AI / Chatbots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Fokus auf On-</a:t>
            </a:r>
            <a:r>
              <a:rPr lang="de-DE" dirty="0" err="1"/>
              <a:t>Premise</a:t>
            </a:r>
            <a:r>
              <a:rPr lang="de-DE" dirty="0"/>
              <a:t> &amp; Datenschutz</a:t>
            </a:r>
          </a:p>
          <a:p>
            <a:pPr marL="630900" lvl="1" indent="-342900">
              <a:buFont typeface="Arial" panose="020B0604020202020204" pitchFamily="34" charset="0"/>
              <a:buChar char="•"/>
            </a:pPr>
            <a:r>
              <a:rPr lang="de-DE" dirty="0"/>
              <a:t>NLU (Natural Language Understanding) </a:t>
            </a:r>
            <a:r>
              <a:rPr lang="de-DE" dirty="0">
                <a:sym typeface="Wingdings" pitchFamily="2" charset="2"/>
              </a:rPr>
              <a:t> versteht die Nutzeranfragen</a:t>
            </a:r>
          </a:p>
          <a:p>
            <a:pPr marL="630900" lvl="1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Dialog Management (Core)  Steuert den Gesprächsverlauf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Unterstützt regelbasierte Dialoge und ML-basierte Dialogsteuerung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Erweiterbar durch Custom Actions (Python)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Ideal für die Arbeit mit Entscheidungsbäumen</a:t>
            </a:r>
          </a:p>
        </p:txBody>
      </p:sp>
    </p:spTree>
    <p:extLst>
      <p:ext uri="{BB962C8B-B14F-4D97-AF65-F5344CB8AC3E}">
        <p14:creationId xmlns:p14="http://schemas.microsoft.com/office/powerpoint/2010/main" val="56265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97440-AC39-13F8-1FDB-82FA5DD6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FB77496-F897-AB2F-504A-E78C18CC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Informationen / Vorgehen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62394AF-19CC-D135-72EC-525352D66B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Intent </a:t>
            </a:r>
            <a:r>
              <a:rPr lang="de-DE" dirty="0">
                <a:sym typeface="Wingdings" pitchFamily="2" charset="2"/>
              </a:rPr>
              <a:t> Was will der Nutzer?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Entity  Wichtige Informationen (z.B. zum Betriebssystem)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Slot  Gespeicherter Zustand im Gespräch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Response  Bot-Antwort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Action  Logik (z.B. Schritt-für-Schritt-Anleitung)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sym typeface="Wingdings" pitchFamily="2" charset="2"/>
              </a:rPr>
              <a:t>Rule/Story  Gesprächsfluss</a:t>
            </a:r>
          </a:p>
        </p:txBody>
      </p:sp>
    </p:spTree>
    <p:extLst>
      <p:ext uri="{BB962C8B-B14F-4D97-AF65-F5344CB8AC3E}">
        <p14:creationId xmlns:p14="http://schemas.microsoft.com/office/powerpoint/2010/main" val="340691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4226B-0A00-34F0-B602-61AE150E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8BF0EAF-6C22-1F1A-D98F-8D29F159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Informationen / Vorgehen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95C0678-BFF4-6F0C-3EE8-C4DB53A03F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domain.yml</a:t>
            </a:r>
            <a:r>
              <a:rPr lang="de-DE" dirty="0">
                <a:sym typeface="Wingdings" pitchFamily="2" charset="2"/>
              </a:rPr>
              <a:t> (zentrale Konfigurationsdatei)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data</a:t>
            </a:r>
            <a:r>
              <a:rPr lang="de-DE" dirty="0">
                <a:sym typeface="Wingdings" pitchFamily="2" charset="2"/>
              </a:rPr>
              <a:t>/</a:t>
            </a:r>
            <a:r>
              <a:rPr lang="de-DE" dirty="0" err="1">
                <a:sym typeface="Wingdings" pitchFamily="2" charset="2"/>
              </a:rPr>
              <a:t>nlu.yml</a:t>
            </a:r>
            <a:r>
              <a:rPr lang="de-DE" dirty="0">
                <a:sym typeface="Wingdings" pitchFamily="2" charset="2"/>
              </a:rPr>
              <a:t> (Trainingsdaten für das Sprachverständnis)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data</a:t>
            </a:r>
            <a:r>
              <a:rPr lang="de-DE" dirty="0">
                <a:sym typeface="Wingdings" pitchFamily="2" charset="2"/>
              </a:rPr>
              <a:t>/</a:t>
            </a:r>
            <a:r>
              <a:rPr lang="de-DE" dirty="0" err="1">
                <a:sym typeface="Wingdings" pitchFamily="2" charset="2"/>
              </a:rPr>
              <a:t>rules.yml</a:t>
            </a:r>
            <a:r>
              <a:rPr lang="de-DE" dirty="0">
                <a:sym typeface="Wingdings" pitchFamily="2" charset="2"/>
              </a:rPr>
              <a:t> (Regelbasierte Abläufe)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data</a:t>
            </a:r>
            <a:r>
              <a:rPr lang="de-DE" dirty="0">
                <a:sym typeface="Wingdings" pitchFamily="2" charset="2"/>
              </a:rPr>
              <a:t>/</a:t>
            </a:r>
            <a:r>
              <a:rPr lang="de-DE" dirty="0" err="1">
                <a:sym typeface="Wingdings" pitchFamily="2" charset="2"/>
              </a:rPr>
              <a:t>stories.yml</a:t>
            </a:r>
            <a:r>
              <a:rPr lang="de-DE" dirty="0">
                <a:sym typeface="Wingdings" pitchFamily="2" charset="2"/>
              </a:rPr>
              <a:t> (Beispiel-Gespräche)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actions</a:t>
            </a:r>
            <a:r>
              <a:rPr lang="de-DE" dirty="0">
                <a:sym typeface="Wingdings" pitchFamily="2" charset="2"/>
              </a:rPr>
              <a:t>/</a:t>
            </a:r>
            <a:r>
              <a:rPr lang="de-DE" dirty="0" err="1">
                <a:sym typeface="Wingdings" pitchFamily="2" charset="2"/>
              </a:rPr>
              <a:t>actions.py</a:t>
            </a:r>
            <a:r>
              <a:rPr lang="de-DE" dirty="0">
                <a:sym typeface="Wingdings" pitchFamily="2" charset="2"/>
              </a:rPr>
              <a:t> (Eigene Logik)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config.yml</a:t>
            </a:r>
            <a:r>
              <a:rPr lang="de-DE" dirty="0">
                <a:sym typeface="Wingdings" pitchFamily="2" charset="2"/>
              </a:rPr>
              <a:t> (ML- und NLU-Konfiguration)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endpoints.yml</a:t>
            </a:r>
            <a:r>
              <a:rPr lang="de-DE" dirty="0">
                <a:sym typeface="Wingdings" pitchFamily="2" charset="2"/>
              </a:rPr>
              <a:t> (Verbindung zum Action-Server)</a:t>
            </a:r>
          </a:p>
        </p:txBody>
      </p:sp>
    </p:spTree>
    <p:extLst>
      <p:ext uri="{BB962C8B-B14F-4D97-AF65-F5344CB8AC3E}">
        <p14:creationId xmlns:p14="http://schemas.microsoft.com/office/powerpoint/2010/main" val="420019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684C-CBFC-1F60-361A-D6C4C9F51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DF621-0640-3223-2805-336765A3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und Nachteile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170CB8-989A-DD25-F1EF-EE805BE00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de-DE" dirty="0"/>
              <a:t>Datenschutzfreundlich (läuft lokal)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de-DE" dirty="0"/>
              <a:t>Flexibel erweiterbar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de-DE" dirty="0"/>
              <a:t>Regelbasierte Dialoge möglich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de-DE" dirty="0"/>
              <a:t>Aktive Community für Inspirationen und Problembehebungen</a:t>
            </a:r>
          </a:p>
          <a:p>
            <a:pPr marL="342900" indent="-342900">
              <a:buClr>
                <a:srgbClr val="92D050"/>
              </a:buClr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EDCE4E-55EE-8275-FB70-1A3ED5379D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Komplexes und aufwendiges Setup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Laufzeitumgebung benötigt</a:t>
            </a:r>
          </a:p>
          <a:p>
            <a:pPr marL="6309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Kein Plug &amp; Play</a:t>
            </a:r>
          </a:p>
          <a:p>
            <a:pPr marL="6309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Server + Action Server müssen laufen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Trainingsdaten erforderlich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Open-Source Variante eingestellt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Erkennt neue Python-Versionen nicht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Hoher Pflegeaufwand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Schwieriges Debugging</a:t>
            </a:r>
          </a:p>
        </p:txBody>
      </p:sp>
    </p:spTree>
    <p:extLst>
      <p:ext uri="{BB962C8B-B14F-4D97-AF65-F5344CB8AC3E}">
        <p14:creationId xmlns:p14="http://schemas.microsoft.com/office/powerpoint/2010/main" val="146472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E3A33-89FA-4569-BF8B-5F21603E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71B48B-3279-A82E-2E40-5A7462F5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857999"/>
          </a:xfrm>
        </p:spPr>
        <p:txBody>
          <a:bodyPr anchor="ctr"/>
          <a:lstStyle/>
          <a:p>
            <a:pPr algn="ctr"/>
            <a:r>
              <a:rPr lang="de-DE" sz="8000" dirty="0"/>
              <a:t>LIVE-DEMO</a:t>
            </a:r>
          </a:p>
        </p:txBody>
      </p:sp>
    </p:spTree>
    <p:extLst>
      <p:ext uri="{BB962C8B-B14F-4D97-AF65-F5344CB8AC3E}">
        <p14:creationId xmlns:p14="http://schemas.microsoft.com/office/powerpoint/2010/main" val="215963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50FEF-E5A6-D3B8-51BC-04B31C61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1A24742-B4D3-15C6-F4D8-1FDD2978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6C300EF-C424-9E79-504F-FBDDF2F6D1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PDF‘s</a:t>
            </a:r>
            <a:r>
              <a:rPr lang="de-DE" dirty="0"/>
              <a:t> in Dialogmodell überführen</a:t>
            </a:r>
          </a:p>
          <a:p>
            <a:pPr marL="630900" lvl="1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de-DE" dirty="0" err="1"/>
              <a:t>Intents</a:t>
            </a:r>
            <a:endParaRPr lang="de-DE" dirty="0"/>
          </a:p>
          <a:p>
            <a:pPr marL="630900" lvl="1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de-DE" dirty="0"/>
              <a:t>Slots</a:t>
            </a:r>
          </a:p>
          <a:p>
            <a:pPr marL="630900" lvl="1" indent="-3429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de-DE" dirty="0"/>
              <a:t>Antworten &amp; Schritte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Technisches Setup (</a:t>
            </a:r>
            <a:r>
              <a:rPr lang="de-DE" dirty="0" err="1"/>
              <a:t>domain.yml</a:t>
            </a:r>
            <a:r>
              <a:rPr lang="de-DE" dirty="0"/>
              <a:t>, </a:t>
            </a:r>
            <a:r>
              <a:rPr lang="de-DE" dirty="0" err="1"/>
              <a:t>nlu.yml</a:t>
            </a:r>
            <a:r>
              <a:rPr lang="de-DE" dirty="0"/>
              <a:t>, </a:t>
            </a:r>
            <a:r>
              <a:rPr lang="de-DE" dirty="0" err="1"/>
              <a:t>rules.yml</a:t>
            </a:r>
            <a:r>
              <a:rPr lang="de-DE" dirty="0"/>
              <a:t>, </a:t>
            </a:r>
            <a:r>
              <a:rPr lang="de-DE" dirty="0" err="1"/>
              <a:t>actions.py</a:t>
            </a:r>
            <a:r>
              <a:rPr lang="de-DE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Erweiterung und Generierung von Trainingsdaten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Testen des Expertensystems</a:t>
            </a:r>
          </a:p>
        </p:txBody>
      </p:sp>
    </p:spTree>
    <p:extLst>
      <p:ext uri="{BB962C8B-B14F-4D97-AF65-F5344CB8AC3E}">
        <p14:creationId xmlns:p14="http://schemas.microsoft.com/office/powerpoint/2010/main" val="2613804481"/>
      </p:ext>
    </p:extLst>
  </p:cSld>
  <p:clrMapOvr>
    <a:masterClrMapping/>
  </p:clrMapOvr>
</p:sld>
</file>

<file path=ppt/theme/theme1.xml><?xml version="1.0" encoding="utf-8"?>
<a:theme xmlns:a="http://schemas.openxmlformats.org/drawingml/2006/main" name="UHOH PPT ">
  <a:themeElements>
    <a:clrScheme name="UHOH 1">
      <a:dk1>
        <a:srgbClr val="525250"/>
      </a:dk1>
      <a:lt1>
        <a:sysClr val="window" lastClr="FFFFFF"/>
      </a:lt1>
      <a:dk2>
        <a:srgbClr val="004178"/>
      </a:dk2>
      <a:lt2>
        <a:srgbClr val="EBF2F5"/>
      </a:lt2>
      <a:accent1>
        <a:srgbClr val="6EAAC3"/>
      </a:accent1>
      <a:accent2>
        <a:srgbClr val="4B782D"/>
      </a:accent2>
      <a:accent3>
        <a:srgbClr val="AFC80A"/>
      </a:accent3>
      <a:accent4>
        <a:srgbClr val="731E5A"/>
      </a:accent4>
      <a:accent5>
        <a:srgbClr val="C3A53C"/>
      </a:accent5>
      <a:accent6>
        <a:srgbClr val="EBF2F5"/>
      </a:accent6>
      <a:hlink>
        <a:srgbClr val="7030A0"/>
      </a:hlink>
      <a:folHlink>
        <a:srgbClr val="525250"/>
      </a:folHlink>
    </a:clrScheme>
    <a:fontScheme name="UHOH-Segoe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alpha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 cmpd="sng" algn="ctr">
          <a:solidFill>
            <a:schemeClr val="tx1">
              <a:lumMod val="40000"/>
              <a:lumOff val="60000"/>
            </a:schemeClr>
          </a:solidFill>
          <a:prstDash val="solid"/>
          <a:round/>
          <a:headEnd type="none" w="med" len="med"/>
          <a:tailEnd type="none" w="lg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B58BCC7D-20DE-4E3C-9294-D11C4B834809}" vid="{9873EE9E-0D28-4FDB-9C64-5823616D3EF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UHOH PPT </Template>
  <TotalTime>0</TotalTime>
  <Words>251</Words>
  <Application>Microsoft Macintosh PowerPoint</Application>
  <PresentationFormat>Breitbild</PresentationFormat>
  <Paragraphs>47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5" baseType="lpstr">
      <vt:lpstr>Arial</vt:lpstr>
      <vt:lpstr>Calibri</vt:lpstr>
      <vt:lpstr>Rockwell</vt:lpstr>
      <vt:lpstr>Segoe UI</vt:lpstr>
      <vt:lpstr>Segoe UI </vt:lpstr>
      <vt:lpstr>Segoe UI Semibold</vt:lpstr>
      <vt:lpstr>Wingdings</vt:lpstr>
      <vt:lpstr>UHOH PPT </vt:lpstr>
      <vt:lpstr>RASA</vt:lpstr>
      <vt:lpstr>Informationen / Vorgehen</vt:lpstr>
      <vt:lpstr>Informationen / Vorgehen</vt:lpstr>
      <vt:lpstr>Informationen / Vorgehen</vt:lpstr>
      <vt:lpstr>Vorteile und Nachteile </vt:lpstr>
      <vt:lpstr>LIVE-DEMO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Moritz Lonien</dc:creator>
  <cp:lastModifiedBy>Moritz Lonien</cp:lastModifiedBy>
  <cp:revision>8</cp:revision>
  <dcterms:created xsi:type="dcterms:W3CDTF">2026-05-03T07:07:56Z</dcterms:created>
  <dcterms:modified xsi:type="dcterms:W3CDTF">2026-05-03T08:22:55Z</dcterms:modified>
</cp:coreProperties>
</file>